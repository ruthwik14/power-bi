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a:spLocks noGrp="1"/>
          </p:cNvSpPr>
          <p:nvPr>
            <p:ph type="title"/>
          </p:nvPr>
        </p:nvSpPr>
        <p:spPr>
          <a:prstGeom prst="rect">
            <a:avLst/>
          </a:prstGeom>
        </p:spPr>
        <p:txBody>
          <a:bodyPr/>
          <a:lstStyle/>
          <a:p>
            <a:r>
              <a:t>Title Text</a:t>
            </a:r>
          </a:p>
        </p:txBody>
      </p:sp>
      <p:sp>
        <p:nvSpPr>
          <p:cNvPr id="29" name="Body Level One…"/>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a:spLocks noGrp="1"/>
          </p:cNvSpPr>
          <p:nvPr>
            <p:ph type="title"/>
          </p:nvPr>
        </p:nvSpPr>
        <p:spPr>
          <a:prstGeom prst="rect">
            <a:avLst/>
          </a:prstGeom>
        </p:spPr>
        <p:txBody>
          <a:bodyPr/>
          <a:lstStyle/>
          <a:p>
            <a:r>
              <a:t>Title Text</a:t>
            </a:r>
          </a:p>
        </p:txBody>
      </p:sp>
      <p:sp>
        <p:nvSpPr>
          <p:cNvPr id="38" name="Body Level One…"/>
          <p:cNvSpPr>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Shape 23"/>
          <p:cNvSpPr>
            <a:spLocks noGrp="1"/>
          </p:cNvSpPr>
          <p:nvPr>
            <p:ph type="body" sz="half" idx="13"/>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a:spLocks noGrp="1"/>
          </p:cNvSpPr>
          <p:nvPr>
            <p:ph type="title"/>
          </p:nvPr>
        </p:nvSpPr>
        <p:spPr>
          <a:prstGeom prst="rect">
            <a:avLst/>
          </a:prstGeom>
        </p:spPr>
        <p:txBody>
          <a:bodyPr/>
          <a:lstStyle/>
          <a:p>
            <a:r>
              <a:t>Title Text</a:t>
            </a:r>
          </a:p>
        </p:txBody>
      </p:sp>
      <p:sp>
        <p:nvSpPr>
          <p:cNvPr id="48"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Shape 36"/>
          <p:cNvSpPr/>
          <p:nvPr/>
        </p:nvSpPr>
        <p:spPr>
          <a:xfrm>
            <a:off x="4572000" y="-125"/>
            <a:ext cx="4572000" cy="5143501"/>
          </a:xfrm>
          <a:prstGeom prst="rect">
            <a:avLst/>
          </a:prstGeom>
          <a:solidFill>
            <a:srgbClr val="EEEEEE"/>
          </a:solidFill>
          <a:ln w="12700">
            <a:miter lim="400000"/>
          </a:ln>
        </p:spPr>
        <p:txBody>
          <a:bodyPr lIns="45719" rIns="45719" anchor="ctr"/>
          <a:lstStyle/>
          <a:p>
            <a:endParaRPr/>
          </a:p>
        </p:txBody>
      </p:sp>
      <p:sp>
        <p:nvSpPr>
          <p:cNvPr id="73" name="Title Text"/>
          <p:cNvSpPr>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Shape 39"/>
          <p:cNvSpPr>
            <a:spLocks noGrp="1"/>
          </p:cNvSpPr>
          <p:nvPr>
            <p:ph type="body" sz="half" idx="13"/>
          </p:nvPr>
        </p:nvSpPr>
        <p:spPr>
          <a:xfrm>
            <a:off x="4939500" y="724074"/>
            <a:ext cx="3837000" cy="3695102"/>
          </a:xfrm>
          <a:prstGeom prst="rect">
            <a:avLst/>
          </a:prstGeom>
        </p:spPr>
        <p:txBody>
          <a:bodyPr anchor="ctr"/>
          <a:lstStyle/>
          <a:p>
            <a:endParaRPr/>
          </a:p>
        </p:txBody>
      </p:sp>
      <p:sp>
        <p:nvSpPr>
          <p:cNvPr id="76"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Title Text"/>
          <p:cNvSpPr>
            <a:spLocks noGrp="1"/>
          </p:cNvSpPr>
          <p:nvPr>
            <p:ph type="title"/>
          </p:nvPr>
        </p:nvSpPr>
        <p:spPr>
          <a:xfrm>
            <a:off x="311699" y="1106125"/>
            <a:ext cx="8520602" cy="1963500"/>
          </a:xfrm>
          <a:prstGeom prst="rect">
            <a:avLst/>
          </a:prstGeom>
        </p:spPr>
        <p:txBody>
          <a:bodyPr anchor="b"/>
          <a:lstStyle>
            <a:lvl1pPr algn="ctr">
              <a:defRPr sz="12000"/>
            </a:lvl1pPr>
          </a:lstStyle>
          <a:p>
            <a:r>
              <a:t>Title Text</a:t>
            </a:r>
          </a:p>
        </p:txBody>
      </p:sp>
      <p:sp>
        <p:nvSpPr>
          <p:cNvPr id="92" name="Body Level One…"/>
          <p:cNvSpPr>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a:spLocks noGrp="1"/>
          </p:cNvSpPr>
          <p:nvPr>
            <p:ph type="title"/>
          </p:nvPr>
        </p:nvSpPr>
        <p:spPr>
          <a:xfrm>
            <a:off x="311699" y="445025"/>
            <a:ext cx="8520602" cy="57270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normAutofit/>
          </a:bodyPr>
          <a:lstStyle/>
          <a:p>
            <a:r>
              <a:t>Title Text</a:t>
            </a:r>
          </a:p>
        </p:txBody>
      </p:sp>
      <p:sp>
        <p:nvSpPr>
          <p:cNvPr id="3" name="Body Level One…"/>
          <p:cNvSpPr>
            <a:spLocks noGrp="1"/>
          </p:cNvSpPr>
          <p:nvPr>
            <p:ph type="body" idx="1"/>
          </p:nvPr>
        </p:nvSpPr>
        <p:spPr>
          <a:xfrm>
            <a:off x="311699" y="1152475"/>
            <a:ext cx="8520602" cy="341640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54"/>
          <p:cNvSpPr/>
          <p:nvPr/>
        </p:nvSpPr>
        <p:spPr>
          <a:xfrm rot="10800000" flipH="1">
            <a:off x="-1" y="0"/>
            <a:ext cx="9163201" cy="5148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564" y="0"/>
                </a:lnTo>
                <a:lnTo>
                  <a:pt x="21600" y="8964"/>
                </a:lnTo>
                <a:lnTo>
                  <a:pt x="21600" y="21600"/>
                </a:lnTo>
                <a:lnTo>
                  <a:pt x="0" y="21600"/>
                </a:lnTo>
                <a:close/>
              </a:path>
            </a:pathLst>
          </a:custGeom>
          <a:gradFill>
            <a:gsLst>
              <a:gs pos="0">
                <a:srgbClr val="1077D2"/>
              </a:gs>
              <a:gs pos="100000">
                <a:srgbClr val="093153"/>
              </a:gs>
            </a:gsLst>
            <a:lin ang="12000143"/>
          </a:gradFill>
          <a:ln w="12700">
            <a:miter lim="400000"/>
          </a:ln>
        </p:spPr>
        <p:txBody>
          <a:bodyPr lIns="45719" rIns="45719" anchor="ctr"/>
          <a:lstStyle/>
          <a:p>
            <a:endParaRPr dirty="0"/>
          </a:p>
        </p:txBody>
      </p:sp>
      <p:sp>
        <p:nvSpPr>
          <p:cNvPr id="110" name="Shape 55"/>
          <p:cNvSpPr/>
          <p:nvPr/>
        </p:nvSpPr>
        <p:spPr>
          <a:xfrm>
            <a:off x="537899" y="1895175"/>
            <a:ext cx="3953102" cy="137665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rPr dirty="0"/>
              <a:t>Sprocket Central Pty Ltd</a:t>
            </a:r>
          </a:p>
        </p:txBody>
      </p:sp>
      <p:sp>
        <p:nvSpPr>
          <p:cNvPr id="111" name="Shape 56"/>
          <p:cNvSpPr/>
          <p:nvPr/>
        </p:nvSpPr>
        <p:spPr>
          <a:xfrm>
            <a:off x="537900" y="3315475"/>
            <a:ext cx="5550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a:solidFill>
                  <a:srgbClr val="FFFFFF"/>
                </a:solidFill>
                <a:latin typeface="Open Sans Light"/>
                <a:ea typeface="Open Sans Light"/>
                <a:cs typeface="Open Sans Light"/>
                <a:sym typeface="Open Sans Light"/>
              </a:defRPr>
            </a:lvl1pPr>
          </a:lstStyle>
          <a:p>
            <a:r>
              <a:rPr lang="en-IN" b="1" i="0" dirty="0" err="1">
                <a:effectLst/>
                <a:latin typeface="Söhne"/>
              </a:rPr>
              <a:t>InsightCraft</a:t>
            </a:r>
            <a:r>
              <a:rPr lang="en-IN" b="1" i="0" dirty="0">
                <a:effectLst/>
                <a:latin typeface="Söhne"/>
              </a:rPr>
              <a:t>™ Analytics Framework</a:t>
            </a:r>
            <a:endParaRPr dirty="0"/>
          </a:p>
        </p:txBody>
      </p:sp>
      <p:sp>
        <p:nvSpPr>
          <p:cNvPr id="113" name="Shape 58"/>
          <p:cNvSpPr/>
          <p:nvPr/>
        </p:nvSpPr>
        <p:spPr>
          <a:xfrm>
            <a:off x="537900" y="3666599"/>
            <a:ext cx="6249600" cy="36930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1200">
                <a:solidFill>
                  <a:srgbClr val="FFFFFF"/>
                </a:solidFill>
                <a:latin typeface="Open Sans Light"/>
                <a:ea typeface="Open Sans Light"/>
                <a:cs typeface="Open Sans Light"/>
                <a:sym typeface="Open Sans Light"/>
              </a:defRPr>
            </a:lvl1pPr>
          </a:lstStyle>
          <a:p>
            <a:r>
              <a:rPr dirty="0"/>
              <a:t>[</a:t>
            </a:r>
            <a:r>
              <a:rPr lang="en-IN" b="1" i="0" dirty="0" err="1">
                <a:effectLst/>
                <a:latin typeface="Söhne"/>
              </a:rPr>
              <a:t>InsightForge</a:t>
            </a:r>
            <a:r>
              <a:rPr lang="en-IN" b="1" i="0" dirty="0">
                <a:effectLst/>
                <a:latin typeface="Söhne"/>
              </a:rPr>
              <a:t> Division</a:t>
            </a:r>
            <a:r>
              <a:rPr dirty="0"/>
              <a:t>] - [</a:t>
            </a:r>
            <a:r>
              <a:rPr lang="en-IN" b="0" i="0" dirty="0">
                <a:solidFill>
                  <a:schemeClr val="bg1"/>
                </a:solidFill>
                <a:effectLst/>
                <a:latin typeface="DM Sans" pitchFamily="2" charset="0"/>
              </a:rPr>
              <a:t>Tony Smith</a:t>
            </a:r>
            <a:r>
              <a:rPr dirty="0"/>
              <a:t>], [</a:t>
            </a:r>
            <a:r>
              <a:rPr lang="en-IN" dirty="0">
                <a:solidFill>
                  <a:schemeClr val="bg1"/>
                </a:solidFill>
                <a:latin typeface="DM Sans" pitchFamily="2" charset="0"/>
              </a:rPr>
              <a:t>Koushik</a:t>
            </a:r>
            <a:r>
              <a:rPr dirty="0"/>
              <a:t>], [</a:t>
            </a:r>
            <a:r>
              <a:rPr lang="en-IN" dirty="0" err="1"/>
              <a:t>Devanapalli</a:t>
            </a:r>
            <a:r>
              <a:rPr lang="en-IN" dirty="0"/>
              <a:t> </a:t>
            </a:r>
            <a:r>
              <a:rPr lang="en-IN" dirty="0" err="1"/>
              <a:t>Ruthwik</a:t>
            </a:r>
            <a:r>
              <a:rPr dirty="0"/>
              <a:t>]</a:t>
            </a:r>
          </a:p>
        </p:txBody>
      </p:sp>
      <p:sp>
        <p:nvSpPr>
          <p:cNvPr id="114"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7" name="TextBox 6">
            <a:extLst>
              <a:ext uri="{FF2B5EF4-FFF2-40B4-BE49-F238E27FC236}">
                <a16:creationId xmlns:a16="http://schemas.microsoft.com/office/drawing/2014/main" id="{9FE5051C-3393-D403-F271-7EAC5361E05A}"/>
              </a:ext>
            </a:extLst>
          </p:cNvPr>
          <p:cNvSpPr txBox="1"/>
          <p:nvPr/>
        </p:nvSpPr>
        <p:spPr>
          <a:xfrm>
            <a:off x="537899" y="1180853"/>
            <a:ext cx="549711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2400" b="0" i="0" dirty="0">
                <a:solidFill>
                  <a:schemeClr val="bg1"/>
                </a:solidFill>
                <a:effectLst/>
                <a:latin typeface="DM Sans" pitchFamily="2" charset="0"/>
              </a:rPr>
              <a:t>Lighthouse &amp; Innovation Team</a:t>
            </a:r>
            <a:endParaRPr lang="en-IN" sz="1800" b="1" dirty="0">
              <a:solidFill>
                <a:schemeClr val="bg1"/>
              </a:solidFill>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63"/>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17" name="Shape 64"/>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Agenda</a:t>
            </a:r>
          </a:p>
        </p:txBody>
      </p:sp>
      <p:sp>
        <p:nvSpPr>
          <p:cNvPr id="118" name="Shape 65"/>
          <p:cNvSpPr/>
          <p:nvPr/>
        </p:nvSpPr>
        <p:spPr>
          <a:xfrm>
            <a:off x="343874" y="1211200"/>
            <a:ext cx="5459402" cy="1708756"/>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p>
            <a:pPr marL="457200" indent="-355600">
              <a:lnSpc>
                <a:spcPct val="115000"/>
              </a:lnSpc>
              <a:buClr>
                <a:srgbClr val="000000"/>
              </a:buClr>
              <a:buSzPts val="2000"/>
              <a:buAutoNum type="arabicPeriod"/>
              <a:defRPr sz="2000">
                <a:latin typeface="Open Sans"/>
                <a:ea typeface="Open Sans"/>
                <a:cs typeface="Open Sans"/>
                <a:sym typeface="Open Sans"/>
              </a:defRPr>
            </a:pPr>
            <a:r>
              <a:t>Introduction</a:t>
            </a:r>
          </a:p>
          <a:p>
            <a:pPr marL="457200" indent="-355600">
              <a:lnSpc>
                <a:spcPct val="115000"/>
              </a:lnSpc>
              <a:buClr>
                <a:srgbClr val="000000"/>
              </a:buClr>
              <a:buSzPts val="2000"/>
              <a:buAutoNum type="arabicPeriod"/>
              <a:defRPr sz="2000">
                <a:latin typeface="Open Sans"/>
                <a:ea typeface="Open Sans"/>
                <a:cs typeface="Open Sans"/>
                <a:sym typeface="Open Sans"/>
              </a:defRPr>
            </a:pPr>
            <a:r>
              <a:t>Data Exploration</a:t>
            </a:r>
          </a:p>
          <a:p>
            <a:pPr marL="457200" indent="-355600">
              <a:lnSpc>
                <a:spcPct val="115000"/>
              </a:lnSpc>
              <a:buClr>
                <a:srgbClr val="000000"/>
              </a:buClr>
              <a:buSzPts val="2000"/>
              <a:buAutoNum type="arabicPeriod"/>
              <a:defRPr sz="2000">
                <a:latin typeface="Open Sans"/>
                <a:ea typeface="Open Sans"/>
                <a:cs typeface="Open Sans"/>
                <a:sym typeface="Open Sans"/>
              </a:defRPr>
            </a:pPr>
            <a:r>
              <a:t>Model Development</a:t>
            </a:r>
          </a:p>
          <a:p>
            <a:pPr marL="457200" indent="-355600">
              <a:lnSpc>
                <a:spcPct val="115000"/>
              </a:lnSpc>
              <a:buClr>
                <a:srgbClr val="000000"/>
              </a:buClr>
              <a:buSzPts val="2000"/>
              <a:buAutoNum type="arabicPeriod"/>
              <a:defRPr sz="2000">
                <a:latin typeface="Open Sans"/>
                <a:ea typeface="Open Sans"/>
                <a:cs typeface="Open Sans"/>
                <a:sym typeface="Open Sans"/>
              </a:defRPr>
            </a:pPr>
            <a:r>
              <a:t>Interpretation</a:t>
            </a:r>
          </a:p>
        </p:txBody>
      </p:sp>
      <p:sp>
        <p:nvSpPr>
          <p:cNvPr id="119"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70"/>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Introduction</a:t>
            </a:r>
          </a:p>
        </p:txBody>
      </p:sp>
      <p:sp>
        <p:nvSpPr>
          <p:cNvPr id="123" name="Shape 72"/>
          <p:cNvSpPr/>
          <p:nvPr/>
        </p:nvSpPr>
        <p:spPr>
          <a:xfrm>
            <a:off x="205025" y="1204742"/>
            <a:ext cx="8374619" cy="1761797"/>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2000" b="1">
                <a:latin typeface="Open Sans"/>
                <a:ea typeface="Open Sans"/>
                <a:cs typeface="Open Sans"/>
                <a:sym typeface="Open Sans"/>
              </a:defRPr>
            </a:lvl1pPr>
          </a:lstStyle>
          <a:p>
            <a:pPr algn="just"/>
            <a:r>
              <a:rPr lang="en-US" sz="1500" b="0" dirty="0">
                <a:solidFill>
                  <a:srgbClr val="242424"/>
                </a:solidFill>
                <a:latin typeface="source-serif-pro"/>
              </a:rPr>
              <a:t>               Welcome to </a:t>
            </a:r>
            <a:r>
              <a:rPr lang="en-IN" sz="1500" b="0" i="0" dirty="0" err="1">
                <a:effectLst/>
                <a:latin typeface="Söhne"/>
              </a:rPr>
              <a:t>InsightForge</a:t>
            </a:r>
            <a:r>
              <a:rPr lang="en-IN" sz="1500" b="0" i="0" dirty="0">
                <a:effectLst/>
                <a:latin typeface="Söhne"/>
              </a:rPr>
              <a:t> Division</a:t>
            </a:r>
            <a:r>
              <a:rPr lang="en-US" sz="1500" b="0" dirty="0">
                <a:solidFill>
                  <a:srgbClr val="242424"/>
                </a:solidFill>
                <a:latin typeface="source-serif-pro"/>
              </a:rPr>
              <a:t>, the strategic hub at KPMG. Tasked with analyzing a new list of 1000 potential customers, our focus is on unlocking insights from their demographics and attributes. Despite lacking transaction history, our goal is clear: optimize resource allocation for targeted marketing, enhancing performance by honing in on high-value customers. Join us in transforming data into actionable strategies, driving success through precision and innovation. Welcome to the heart of strategic marketing at KPMG—welcome to </a:t>
            </a:r>
            <a:r>
              <a:rPr lang="en-IN" sz="1500" b="0" i="0" dirty="0" err="1">
                <a:effectLst/>
                <a:latin typeface="Söhne"/>
              </a:rPr>
              <a:t>InsightForge</a:t>
            </a:r>
            <a:r>
              <a:rPr lang="en-IN" sz="1500" b="0" i="0" dirty="0">
                <a:effectLst/>
                <a:latin typeface="Söhne"/>
              </a:rPr>
              <a:t> Division</a:t>
            </a:r>
            <a:r>
              <a:rPr lang="en-US" sz="1500" b="0" dirty="0">
                <a:solidFill>
                  <a:srgbClr val="242424"/>
                </a:solidFill>
                <a:latin typeface="source-serif-pro"/>
              </a:rPr>
              <a:t>.</a:t>
            </a:r>
            <a:endParaRPr sz="1500" b="0" dirty="0">
              <a:solidFill>
                <a:srgbClr val="242424"/>
              </a:solidFill>
              <a:latin typeface="source-serif-pro"/>
            </a:endParaRPr>
          </a:p>
        </p:txBody>
      </p:sp>
      <p:sp>
        <p:nvSpPr>
          <p:cNvPr id="128"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79"/>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dirty="0"/>
              <a:t>Data Exploration</a:t>
            </a:r>
          </a:p>
        </p:txBody>
      </p:sp>
      <p:sp>
        <p:nvSpPr>
          <p:cNvPr id="132" name="Shape 81"/>
          <p:cNvSpPr/>
          <p:nvPr/>
        </p:nvSpPr>
        <p:spPr>
          <a:xfrm>
            <a:off x="205025" y="1047576"/>
            <a:ext cx="8565600" cy="51748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b="1" i="0" dirty="0">
                <a:effectLst/>
                <a:latin typeface="Söhne"/>
              </a:rPr>
              <a:t>Unveiling Variable Distributions and Biases in Data Exploration</a:t>
            </a:r>
            <a:endParaRPr dirty="0"/>
          </a:p>
        </p:txBody>
      </p:sp>
      <p:sp>
        <p:nvSpPr>
          <p:cNvPr id="133" name="Shape 82"/>
          <p:cNvSpPr/>
          <p:nvPr/>
        </p:nvSpPr>
        <p:spPr>
          <a:xfrm>
            <a:off x="205025" y="1757527"/>
            <a:ext cx="8565600" cy="2026997"/>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algn="just"/>
            <a:r>
              <a:rPr lang="en-US" b="0" i="0" dirty="0">
                <a:solidFill>
                  <a:schemeClr val="tx1"/>
                </a:solidFill>
                <a:effectLst/>
                <a:latin typeface="Söhne"/>
              </a:rPr>
              <a:t>In the data exploration phase, we delve into the characteristics of the provided fields, examining variable distributions and potential demographic biases. We assess data validity, identifying any skewness, particularly towards certain demographics. To mitigate biases, we explore external data sources, incorporating ABS data for geographic insights. Correlation analysis uncovers interactions between variables, helping us understand multicollinearity. Transformations, such as appropriate formatting and aggregation, are applied for analysis readiness. Assumptions, limitations, and exclusions are documented, setting the stage for continuous improvement in subsequent stages.</a:t>
            </a:r>
            <a:endParaRPr dirty="0">
              <a:solidFill>
                <a:schemeClr val="tx1"/>
              </a:solidFill>
            </a:endParaRPr>
          </a:p>
        </p:txBody>
      </p:sp>
      <p:sp>
        <p:nvSpPr>
          <p:cNvPr id="137"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88"/>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0" name="Shape 89"/>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Model Development</a:t>
            </a:r>
          </a:p>
        </p:txBody>
      </p:sp>
      <p:sp>
        <p:nvSpPr>
          <p:cNvPr id="142" name="Shape 91"/>
          <p:cNvSpPr/>
          <p:nvPr/>
        </p:nvSpPr>
        <p:spPr>
          <a:xfrm>
            <a:off x="105606" y="1700383"/>
            <a:ext cx="8866944" cy="2292455"/>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algn="just"/>
            <a:r>
              <a:rPr lang="en-US" b="0" i="0" dirty="0">
                <a:solidFill>
                  <a:schemeClr val="tx1"/>
                </a:solidFill>
                <a:effectLst/>
                <a:latin typeface="Söhne"/>
              </a:rPr>
              <a:t>In the Model Development phase, we embark on the journey of transforming insights into actionable strategies. Leveraging the enriched dataset from the Data Exploration phase, we delve into the intricacies of constructing predictive models. This involves selecting appropriate algorithms aligned with our objectives, fine-tuning model parameters, and employing techniques to enhance predictive accuracy. Rigorous training and validation processes ensure robust model performance. Our commitment is not just to build models, but to craft intelligent tools that discern customer behavior patterns and inform strategic decision-making. As we step into the Model Development arena, the synergy of data and innovation takes center stage, propelling us toward a future where predictive analytics drives sustainable success.</a:t>
            </a:r>
            <a:endParaRPr dirty="0">
              <a:solidFill>
                <a:schemeClr val="tx1"/>
              </a:solidFill>
            </a:endParaRPr>
          </a:p>
        </p:txBody>
      </p:sp>
      <p:sp>
        <p:nvSpPr>
          <p:cNvPr id="146"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2" name="Shape 81">
            <a:extLst>
              <a:ext uri="{FF2B5EF4-FFF2-40B4-BE49-F238E27FC236}">
                <a16:creationId xmlns:a16="http://schemas.microsoft.com/office/drawing/2014/main" id="{0381E8EB-4479-DF77-78D9-D67E9D40A560}"/>
              </a:ext>
            </a:extLst>
          </p:cNvPr>
          <p:cNvSpPr/>
          <p:nvPr/>
        </p:nvSpPr>
        <p:spPr>
          <a:xfrm>
            <a:off x="105606" y="1001713"/>
            <a:ext cx="8565600" cy="51748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b="0" i="0" dirty="0">
                <a:solidFill>
                  <a:schemeClr val="tx1"/>
                </a:solidFill>
                <a:effectLst/>
                <a:latin typeface="Söhne"/>
              </a:rPr>
              <a:t>Navigating the Model Development Frontier for Informed Decision-Making</a:t>
            </a:r>
            <a:endParaRPr dirty="0">
              <a:solidFill>
                <a:schemeClr val="tx1"/>
              </a:solidFill>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97"/>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9" name="Shape 98"/>
          <p:cNvSpPr/>
          <p:nvPr/>
        </p:nvSpPr>
        <p:spPr>
          <a:xfrm>
            <a:off x="205025" y="263974"/>
            <a:ext cx="8565600" cy="7587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dirty="0"/>
              <a:t>Interpretation</a:t>
            </a:r>
          </a:p>
        </p:txBody>
      </p:sp>
      <p:sp>
        <p:nvSpPr>
          <p:cNvPr id="150" name="Shape 99"/>
          <p:cNvSpPr/>
          <p:nvPr/>
        </p:nvSpPr>
        <p:spPr>
          <a:xfrm>
            <a:off x="205025" y="1083299"/>
            <a:ext cx="8565600" cy="51748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b="0" i="0" dirty="0">
                <a:solidFill>
                  <a:schemeClr val="tx1"/>
                </a:solidFill>
                <a:effectLst/>
                <a:latin typeface="Söhne"/>
              </a:rPr>
              <a:t>Interpreting Model Outputs for Strategic Decision-Making</a:t>
            </a:r>
            <a:endParaRPr dirty="0">
              <a:solidFill>
                <a:schemeClr val="tx1"/>
              </a:solidFill>
            </a:endParaRPr>
          </a:p>
        </p:txBody>
      </p:sp>
      <p:sp>
        <p:nvSpPr>
          <p:cNvPr id="151" name="Shape 100"/>
          <p:cNvSpPr/>
          <p:nvPr/>
        </p:nvSpPr>
        <p:spPr>
          <a:xfrm>
            <a:off x="217868" y="1714668"/>
            <a:ext cx="8724663" cy="2292455"/>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algn="just"/>
            <a:r>
              <a:rPr lang="en-US" b="0" i="0" dirty="0">
                <a:solidFill>
                  <a:schemeClr val="tx1"/>
                </a:solidFill>
                <a:effectLst/>
                <a:latin typeface="Söhne"/>
              </a:rPr>
              <a:t>In the Interpretation phase, our focus shifts to extracting meaningful insights from the developed models. We dissect the model outputs, examining the relationships between variables and deciphering the significance of key features. This phase involves not only understanding the technical aspects of model performance but also translating those findings into actionable business recommendations. Clarity is sought on how model predictions align with our initial objectives and how they can be applied to optimize resource allocation for targeted marketing. Through comprehensive interpretation, we bridge the gap between complex analytics and practical, business-centric strategies, ensuring that the results generated have real-world impact and contribute to the overarching success of Sprocket Central Pty Ltd.</a:t>
            </a:r>
            <a:endParaRPr dirty="0">
              <a:solidFill>
                <a:schemeClr val="tx1"/>
              </a:solidFill>
            </a:endParaRPr>
          </a:p>
        </p:txBody>
      </p:sp>
      <p:sp>
        <p:nvSpPr>
          <p:cNvPr id="155"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06"/>
          <p:cNvSpPr/>
          <p:nvPr/>
        </p:nvSpPr>
        <p:spPr>
          <a:xfrm rot="10800000" flipH="1">
            <a:off x="-1" y="0"/>
            <a:ext cx="9163201" cy="5148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564" y="0"/>
                </a:lnTo>
                <a:lnTo>
                  <a:pt x="21600" y="8964"/>
                </a:lnTo>
                <a:lnTo>
                  <a:pt x="21600" y="21600"/>
                </a:lnTo>
                <a:lnTo>
                  <a:pt x="0" y="21600"/>
                </a:lnTo>
                <a:close/>
              </a:path>
            </a:pathLst>
          </a:custGeom>
          <a:gradFill>
            <a:gsLst>
              <a:gs pos="0">
                <a:srgbClr val="1077D2"/>
              </a:gs>
              <a:gs pos="100000">
                <a:srgbClr val="093153"/>
              </a:gs>
            </a:gsLst>
            <a:lin ang="12000143"/>
          </a:gradFill>
          <a:ln w="12700">
            <a:miter lim="400000"/>
          </a:ln>
        </p:spPr>
        <p:txBody>
          <a:bodyPr lIns="45719" rIns="45719" anchor="ctr"/>
          <a:lstStyle/>
          <a:p>
            <a:endParaRPr/>
          </a:p>
        </p:txBody>
      </p:sp>
      <p:sp>
        <p:nvSpPr>
          <p:cNvPr id="158" name="Shape 107"/>
          <p:cNvSpPr/>
          <p:nvPr/>
        </p:nvSpPr>
        <p:spPr>
          <a:xfrm>
            <a:off x="537899" y="1895175"/>
            <a:ext cx="3953102" cy="723243"/>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rPr lang="en-IN" dirty="0"/>
              <a:t>Thanking You</a:t>
            </a:r>
            <a:endParaRPr dirty="0"/>
          </a:p>
        </p:txBody>
      </p:sp>
      <p:sp>
        <p:nvSpPr>
          <p:cNvPr id="159"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2" name="Shape 107">
            <a:extLst>
              <a:ext uri="{FF2B5EF4-FFF2-40B4-BE49-F238E27FC236}">
                <a16:creationId xmlns:a16="http://schemas.microsoft.com/office/drawing/2014/main" id="{688E44BD-C449-D946-29AB-D30593D958B5}"/>
              </a:ext>
            </a:extLst>
          </p:cNvPr>
          <p:cNvSpPr/>
          <p:nvPr/>
        </p:nvSpPr>
        <p:spPr>
          <a:xfrm>
            <a:off x="3133462" y="2854819"/>
            <a:ext cx="3953102"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rPr lang="en-IN" sz="2000" b="0" i="0" dirty="0">
                <a:solidFill>
                  <a:schemeClr val="bg1"/>
                </a:solidFill>
                <a:effectLst/>
                <a:latin typeface="DM Sans" pitchFamily="2" charset="0"/>
              </a:rPr>
              <a:t>Lighthouse &amp; Innovation Team</a:t>
            </a:r>
            <a:endParaRPr lang="en-IN" sz="2000" b="1" dirty="0">
              <a:solidFill>
                <a:schemeClr val="bg1"/>
              </a:solidFill>
            </a:endParaRPr>
          </a:p>
        </p:txBody>
      </p:sp>
    </p:spTree>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291</TotalTime>
  <Words>732</Words>
  <Application>Microsoft Office PowerPoint</Application>
  <PresentationFormat>On-screen Show (16:9)</PresentationFormat>
  <Paragraphs>29</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Calibri</vt:lpstr>
      <vt:lpstr>DM Sans</vt:lpstr>
      <vt:lpstr>Open Sans</vt:lpstr>
      <vt:lpstr>Open Sans Extrabold</vt:lpstr>
      <vt:lpstr>Open Sans Light</vt:lpstr>
      <vt:lpstr>Söhne</vt:lpstr>
      <vt:lpstr>source-serif-pro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RAM</dc:creator>
  <cp:lastModifiedBy>sai ram</cp:lastModifiedBy>
  <cp:revision>5</cp:revision>
  <dcterms:modified xsi:type="dcterms:W3CDTF">2023-12-22T11:42:13Z</dcterms:modified>
</cp:coreProperties>
</file>